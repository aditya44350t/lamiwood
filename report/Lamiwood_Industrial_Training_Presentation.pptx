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it_logo_cri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73736"/>
            <a:ext cx="1143000" cy="1143000"/>
          </a:xfrm>
          <a:prstGeom prst="rect">
            <a:avLst/>
          </a:prstGeom>
        </p:spPr>
      </p:pic>
      <p:pic>
        <p:nvPicPr>
          <p:cNvPr id="3" name="Picture 2" descr="swami_portrait_cris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73736"/>
            <a:ext cx="777240" cy="1234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320040"/>
            <a:ext cx="8961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900000"/>
                </a:solidFill>
                <a:latin typeface="Times New Roman"/>
              </a:defRPr>
            </a:pPr>
            <a:r>
              <a:t>Swami Keshvanand Institute of Technology, Management &amp; Gramothan, Jaipur</a:t>
            </a:r>
          </a:p>
          <a:p>
            <a:pPr algn="ctr">
              <a:spcBef>
                <a:spcPts val="400"/>
              </a:spcBef>
              <a:defRPr sz="1650" b="1">
                <a:solidFill>
                  <a:srgbClr val="900000"/>
                </a:solidFill>
                <a:latin typeface="Times New Roman"/>
              </a:defRPr>
            </a:pPr>
            <a:r>
              <a:t>(An Autonomous Institute Affiliated to Rajasthan Technical University, Kota)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508760"/>
            <a:ext cx="94457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t>Industrial Training</a:t>
            </a:r>
          </a:p>
          <a:p>
            <a:pPr algn="ctr">
              <a:spcBef>
                <a:spcPts val="300"/>
              </a:spcBef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t>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3601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000000"/>
                </a:solidFill>
                <a:latin typeface="Arial Black"/>
              </a:defRPr>
            </a:pPr>
            <a:r>
              <a:t>TOPIC : LAMIWOOD – MODERN E-COMMERCE PLATFORM</a:t>
            </a:r>
          </a:p>
          <a:p>
            <a:pPr algn="ctr">
              <a:spcBef>
                <a:spcPts val="400"/>
              </a:spcBef>
              <a:defRPr sz="2300" b="1">
                <a:solidFill>
                  <a:srgbClr val="000000"/>
                </a:solidFill>
                <a:latin typeface="Arial Black"/>
              </a:defRPr>
            </a:pPr>
            <a:r>
              <a:t>FOR LUXURY ARCHITECTURAL SURFACES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0"/>
            <a:ext cx="4389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t>Submitted To:</a:t>
            </a:r>
          </a:p>
          <a:p>
            <a:pPr>
              <a:spcBef>
                <a:spcPts val="600"/>
              </a:spcBef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Name:- Mr Vikash Dhakar</a:t>
            </a:r>
          </a:p>
          <a:p>
            <a:pPr>
              <a:spcBef>
                <a:spcPts val="400"/>
              </a:spcBef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Assistant Professor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754880"/>
            <a:ext cx="3840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t>Submitted By:</a:t>
            </a:r>
          </a:p>
          <a:p>
            <a:pPr>
              <a:spcBef>
                <a:spcPts val="600"/>
              </a:spcBef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Name:- Aditya Swami</a:t>
            </a:r>
          </a:p>
          <a:p>
            <a:pPr>
              <a:spcBef>
                <a:spcPts val="400"/>
              </a:spcBef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Roll No.:- 24ESKCS024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it_logo_cri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64592"/>
            <a:ext cx="1143000" cy="1143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61311" y="219456"/>
            <a:ext cx="9418320" cy="66111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FFFFF"/>
                </a:solidFill>
                <a:latin typeface="Times New Roman"/>
              </a:defRPr>
            </a:pPr>
            <a:r>
              <a:t>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3855"/>
            <a:ext cx="12191999" cy="2441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592824"/>
            <a:ext cx="3657600" cy="25603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Calibri"/>
              </a:defRPr>
            </a:pPr>
            <a:r>
              <a:t>SKIT, JAIPUR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02752" y="6592824"/>
            <a:ext cx="3657600" cy="25603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www.skit.ac.in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371600"/>
            <a:ext cx="7772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41414"/>
                </a:solidFill>
                <a:latin typeface="Times New Roman"/>
              </a:defRPr>
            </a:pPr>
            <a:r>
              <a:t>1. Company Introduction &amp; Certificate</a:t>
            </a:r>
          </a:p>
          <a:p>
            <a:pPr>
              <a:spcBef>
                <a:spcPts val="1200"/>
              </a:spcBef>
              <a:defRPr sz="2600" b="1">
                <a:solidFill>
                  <a:srgbClr val="141414"/>
                </a:solidFill>
                <a:latin typeface="Times New Roman"/>
              </a:defRPr>
            </a:pPr>
            <a:r>
              <a:t>2. Technology Stack</a:t>
            </a:r>
          </a:p>
          <a:p>
            <a:pPr>
              <a:spcBef>
                <a:spcPts val="1200"/>
              </a:spcBef>
              <a:defRPr sz="2600" b="1">
                <a:solidFill>
                  <a:srgbClr val="141414"/>
                </a:solidFill>
                <a:latin typeface="Times New Roman"/>
              </a:defRPr>
            </a:pPr>
            <a:r>
              <a:t>3. Goals of Training &amp; Project Overview</a:t>
            </a:r>
          </a:p>
          <a:p>
            <a:pPr>
              <a:spcBef>
                <a:spcPts val="1200"/>
              </a:spcBef>
              <a:defRPr sz="2600" b="1">
                <a:solidFill>
                  <a:srgbClr val="141414"/>
                </a:solidFill>
                <a:latin typeface="Times New Roman"/>
              </a:defRPr>
            </a:pPr>
            <a:r>
              <a:t>4. Working Project: Storefront &amp; Catalog</a:t>
            </a:r>
          </a:p>
          <a:p>
            <a:pPr>
              <a:spcBef>
                <a:spcPts val="1200"/>
              </a:spcBef>
              <a:defRPr sz="2600" b="1">
                <a:solidFill>
                  <a:srgbClr val="141414"/>
                </a:solidFill>
                <a:latin typeface="Times New Roman"/>
              </a:defRPr>
            </a:pPr>
            <a:r>
              <a:t>5. Working Project: Interactive Design Tools</a:t>
            </a:r>
          </a:p>
          <a:p>
            <a:pPr>
              <a:spcBef>
                <a:spcPts val="1200"/>
              </a:spcBef>
              <a:defRPr sz="2600" b="1">
                <a:solidFill>
                  <a:srgbClr val="141414"/>
                </a:solidFill>
                <a:latin typeface="Times New Roman"/>
              </a:defRPr>
            </a:pPr>
            <a:r>
              <a:t>6. Future Scope &amp; Conclusion</a:t>
            </a:r>
          </a:p>
          <a:p>
            <a:pPr>
              <a:spcBef>
                <a:spcPts val="1200"/>
              </a:spcBef>
              <a:defRPr sz="2600" b="1">
                <a:solidFill>
                  <a:srgbClr val="141414"/>
                </a:solidFill>
                <a:latin typeface="Times New Roman"/>
              </a:defRPr>
            </a:pPr>
            <a:r>
              <a:t>7.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it_logo_cri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64592"/>
            <a:ext cx="1143000" cy="1143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61311" y="219456"/>
            <a:ext cx="9418320" cy="66111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FFFFF"/>
                </a:solidFill>
                <a:latin typeface="Times New Roman"/>
              </a:defRPr>
            </a:pPr>
            <a:r>
              <a:t>Company Introduction &amp; Certificate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3855"/>
            <a:ext cx="12191999" cy="2441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592824"/>
            <a:ext cx="3657600" cy="25603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Calibri"/>
              </a:defRPr>
            </a:pPr>
            <a:r>
              <a:t>SKIT, JAIPUR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02752" y="6592824"/>
            <a:ext cx="3657600" cy="25603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www.skit.ac.in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18872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700">
                <a:latin typeface="Calibri"/>
              </a:defRPr>
            </a:pPr>
            <a:r>
              <a:rPr b="1"/>
              <a:t>Linkstatic Techno </a:t>
            </a:r>
            <a:r>
              <a:t>is a premier technology consulting and digital product engineering organization specializing in modern full-stack web applications, reactive user interfaces, and bespoke enterprise solutions.</a:t>
            </a:r>
          </a:p>
          <a:p>
            <a:pPr>
              <a:lnSpc>
                <a:spcPct val="115000"/>
              </a:lnSpc>
              <a:spcBef>
                <a:spcPts val="1000"/>
              </a:spcBef>
              <a:defRPr sz="1700">
                <a:latin typeface="Calibri"/>
              </a:defRPr>
            </a:pPr>
            <a:r>
              <a:t>During my 6-weeks industrial training (15 May 2026 – 29 June 2026), I worked as a </a:t>
            </a:r>
            <a:r>
              <a:rPr b="1"/>
              <a:t>Full Stack Web &amp; Frontend Engineering Intern</a:t>
            </a:r>
            <a:r>
              <a:t>, under the mentorship of </a:t>
            </a:r>
            <a:r>
              <a:rPr b="1"/>
              <a:t>Mr. Aditya Pareek </a:t>
            </a:r>
            <a:r>
              <a:t>(Founder &amp; CEO).</a:t>
            </a:r>
          </a:p>
          <a:p>
            <a:pPr>
              <a:lnSpc>
                <a:spcPct val="115000"/>
              </a:lnSpc>
              <a:spcBef>
                <a:spcPts val="1000"/>
              </a:spcBef>
              <a:defRPr sz="1700">
                <a:latin typeface="Calibri"/>
              </a:defRPr>
            </a:pPr>
            <a:r>
              <a:rPr b="1"/>
              <a:t>Primary Focus: </a:t>
            </a:r>
            <a:r>
              <a:t>Architecting the </a:t>
            </a:r>
            <a:r>
              <a:rPr b="1"/>
              <a:t>Lamiwood </a:t>
            </a:r>
            <a:r>
              <a:t>e-commerce web platform using </a:t>
            </a:r>
            <a:r>
              <a:rPr b="1"/>
              <a:t>React 19, TypeScript, and Tailwind CSS v4</a:t>
            </a:r>
            <a:r>
              <a:t>, implementing interactive SVG layout engines, dynamic calculators, and state persistence.</a:t>
            </a:r>
          </a:p>
        </p:txBody>
      </p:sp>
      <p:pic>
        <p:nvPicPr>
          <p:cNvPr id="8" name="Picture 7" descr="aditya_swami_certific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280160"/>
            <a:ext cx="4892040" cy="4754880"/>
          </a:xfrm>
          <a:prstGeom prst="rect">
            <a:avLst/>
          </a:prstGeom>
          <a:ln w="12700">
            <a:solidFill>
              <a:srgbClr val="D2D2D2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it_logo_cri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64592"/>
            <a:ext cx="1143000" cy="1143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613855"/>
            <a:ext cx="12191999" cy="2441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92824"/>
            <a:ext cx="3657600" cy="25603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Calibri"/>
              </a:defRPr>
            </a:pPr>
            <a:r>
              <a:t>SKIT, JAIPUR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02752" y="6592824"/>
            <a:ext cx="3657600" cy="25603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www.skit.ac.in</a:t>
            </a:r>
          </a:p>
        </p:txBody>
      </p:sp>
      <p:pic>
        <p:nvPicPr>
          <p:cNvPr id="6" name="Picture 5" descr="tech_stack_lamiwo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365760"/>
            <a:ext cx="9326880" cy="5852160"/>
          </a:xfrm>
          <a:prstGeom prst="rect">
            <a:avLst/>
          </a:prstGeom>
          <a:ln w="12700">
            <a:solidFill>
              <a:srgbClr val="D2D2D2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it_logo_cri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64592"/>
            <a:ext cx="1143000" cy="1143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61311" y="219456"/>
            <a:ext cx="9418320" cy="66111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FFFFF"/>
                </a:solidFill>
                <a:latin typeface="Times New Roman"/>
              </a:defRPr>
            </a:pPr>
            <a:r>
              <a:t>Training Goals &amp; 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3855"/>
            <a:ext cx="12191999" cy="2441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592824"/>
            <a:ext cx="3657600" cy="25603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Calibri"/>
              </a:defRPr>
            </a:pPr>
            <a:r>
              <a:t>SKIT, JAIPUR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02752" y="6592824"/>
            <a:ext cx="3657600" cy="25603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www.skit.ac.in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188720"/>
            <a:ext cx="4846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C00000"/>
                </a:solidFill>
                <a:latin typeface="Times New Roman"/>
              </a:defRPr>
            </a:pPr>
            <a:r>
              <a:t>Goal of Training</a:t>
            </a:r>
          </a:p>
          <a:p>
            <a:pPr>
              <a:lnSpc>
                <a:spcPct val="115000"/>
              </a:lnSpc>
              <a:spcBef>
                <a:spcPts val="800"/>
              </a:spcBef>
              <a:defRPr sz="1550">
                <a:latin typeface="Calibri"/>
              </a:defRPr>
            </a:pPr>
            <a:r>
              <a:rPr b="1"/>
              <a:t>1. Real-World Experience: </a:t>
            </a:r>
            <a:r>
              <a:t>Engineering a production-ready, full-stack architectural surfaces e-commerce application.</a:t>
            </a:r>
          </a:p>
          <a:p>
            <a:pPr>
              <a:lnSpc>
                <a:spcPct val="115000"/>
              </a:lnSpc>
              <a:spcBef>
                <a:spcPts val="800"/>
              </a:spcBef>
              <a:defRPr sz="1550">
                <a:latin typeface="Calibri"/>
              </a:defRPr>
            </a:pPr>
            <a:r>
              <a:rPr b="1"/>
              <a:t>2. Modern Frontend Mastery: </a:t>
            </a:r>
            <a:r>
              <a:t>Applying React 19, TypeScript, and Tailwind CSS v4 for luxury responsive UI systems.</a:t>
            </a:r>
          </a:p>
          <a:p>
            <a:pPr>
              <a:lnSpc>
                <a:spcPct val="115000"/>
              </a:lnSpc>
              <a:spcBef>
                <a:spcPts val="800"/>
              </a:spcBef>
              <a:defRPr sz="1550">
                <a:latin typeface="Calibri"/>
              </a:defRPr>
            </a:pPr>
            <a:r>
              <a:rPr b="1"/>
              <a:t>3. Interactive Tool Engineering: </a:t>
            </a:r>
            <a:r>
              <a:t>Developing live SVG pattern simulators, wastage calculators, and comparison matrices.</a:t>
            </a:r>
          </a:p>
          <a:p>
            <a:pPr>
              <a:lnSpc>
                <a:spcPct val="115000"/>
              </a:lnSpc>
              <a:spcBef>
                <a:spcPts val="800"/>
              </a:spcBef>
              <a:defRPr sz="1550">
                <a:latin typeface="Calibri"/>
              </a:defRPr>
            </a:pPr>
            <a:r>
              <a:rPr b="1"/>
              <a:t>4. Professional Practices: </a:t>
            </a:r>
            <a:r>
              <a:t>Mastering Git version control, GitHub collaboration, Context API state, and performance profiling.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188720"/>
            <a:ext cx="50292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C00000"/>
                </a:solidFill>
                <a:latin typeface="Times New Roman"/>
              </a:defRPr>
            </a:pPr>
            <a:r>
              <a:t>Lamiwood Platform Overview</a:t>
            </a:r>
          </a:p>
          <a:p>
            <a:pPr>
              <a:lnSpc>
                <a:spcPct val="118000"/>
              </a:lnSpc>
              <a:spcBef>
                <a:spcPts val="800"/>
              </a:spcBef>
              <a:defRPr sz="1600">
                <a:latin typeface="Calibri"/>
              </a:defRPr>
            </a:pPr>
            <a:r>
              <a:rPr b="1"/>
              <a:t>Lamiwood </a:t>
            </a:r>
            <a:r>
              <a:t>is an advanced digital showroom designed for </a:t>
            </a:r>
            <a:r>
              <a:rPr b="1"/>
              <a:t>architects, interior designers, and homeowners </a:t>
            </a:r>
            <a:r>
              <a:t>to discover and specify luxury interior surfaces—including engineered hardwood, acoustic wall panels, and outdoor decking.</a:t>
            </a:r>
          </a:p>
          <a:p>
            <a:pPr>
              <a:lnSpc>
                <a:spcPct val="118000"/>
              </a:lnSpc>
              <a:spcBef>
                <a:spcPts val="800"/>
              </a:spcBef>
              <a:defRPr sz="1600">
                <a:latin typeface="Calibri"/>
              </a:defRPr>
            </a:pPr>
            <a:r>
              <a:rPr b="1"/>
              <a:t>Key Problem Solved: </a:t>
            </a:r>
            <a:r>
              <a:t>Replaces fragmented offline sample distribution with instant digital exploration, dynamic pattern previews, material estimation, and a </a:t>
            </a:r>
            <a:r>
              <a:rPr b="1"/>
              <a:t>Free Physical Sample Box </a:t>
            </a:r>
            <a:r>
              <a:t>fulfillment workflow.</a:t>
            </a:r>
          </a:p>
          <a:p>
            <a:pPr>
              <a:lnSpc>
                <a:spcPct val="118000"/>
              </a:lnSpc>
              <a:spcBef>
                <a:spcPts val="800"/>
              </a:spcBef>
              <a:defRPr sz="1600">
                <a:latin typeface="Calibri"/>
              </a:defRPr>
            </a:pPr>
            <a:r>
              <a:rPr b="1"/>
              <a:t>Architecture: </a:t>
            </a:r>
            <a:r>
              <a:t>Component-driven Single Page Application with persistent client-side state (React Context API + LocalStorage), Framer Motion reveals, and sub-second page transitions.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it_logo_cri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64592"/>
            <a:ext cx="1143000" cy="1143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61311" y="219456"/>
            <a:ext cx="9418320" cy="66111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FFFFF"/>
                </a:solidFill>
                <a:latin typeface="Times New Roman"/>
              </a:defRPr>
            </a:pPr>
            <a:r>
              <a:t>Working Project: Storefront &amp; Catalog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3855"/>
            <a:ext cx="12191999" cy="2441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592824"/>
            <a:ext cx="3657600" cy="25603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Calibri"/>
              </a:defRPr>
            </a:pPr>
            <a:r>
              <a:t>SKIT, JAIPUR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02752" y="6592824"/>
            <a:ext cx="3657600" cy="25603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www.skit.ac.in</a:t>
            </a:r>
          </a:p>
        </p:txBody>
      </p:sp>
      <p:pic>
        <p:nvPicPr>
          <p:cNvPr id="7" name="Picture 6" descr="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234440"/>
            <a:ext cx="4846320" cy="3931920"/>
          </a:xfrm>
          <a:prstGeom prst="rect">
            <a:avLst/>
          </a:prstGeom>
          <a:ln w="12700">
            <a:solidFill>
              <a:srgbClr val="D2D2D2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645920" y="52578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C00000"/>
                </a:solidFill>
                <a:latin typeface="Times New Roman"/>
              </a:defRPr>
            </a:pPr>
            <a:r>
              <a:t>Home Page &amp; Brand Identity</a:t>
            </a:r>
          </a:p>
          <a:p>
            <a:pPr>
              <a:defRPr sz="1400">
                <a:solidFill>
                  <a:srgbClr val="141414"/>
                </a:solidFill>
                <a:latin typeface="Calibri"/>
              </a:defRPr>
            </a:pPr>
            <a:r>
              <a:t>Luxury hero presentation, curated surface categories, and quick navigation.</a:t>
            </a:r>
          </a:p>
        </p:txBody>
      </p:sp>
      <p:pic>
        <p:nvPicPr>
          <p:cNvPr id="9" name="Picture 8" descr="produc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234440"/>
            <a:ext cx="4846320" cy="3931920"/>
          </a:xfrm>
          <a:prstGeom prst="rect">
            <a:avLst/>
          </a:prstGeom>
          <a:ln w="12700">
            <a:solidFill>
              <a:srgbClr val="D2D2D2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858000" y="52578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C00000"/>
                </a:solidFill>
                <a:latin typeface="Times New Roman"/>
              </a:defRPr>
            </a:pPr>
            <a:r>
              <a:t>Product Catalog &amp; Faceted Filters</a:t>
            </a:r>
          </a:p>
          <a:p>
            <a:pPr>
              <a:defRPr sz="1400">
                <a:solidFill>
                  <a:srgbClr val="141414"/>
                </a:solidFill>
                <a:latin typeface="Calibri"/>
              </a:defRPr>
            </a:pPr>
            <a:r>
              <a:t>Multi-attribute category filters, price sliders, technical badges, and responsive grid.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it_logo_cri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64592"/>
            <a:ext cx="1143000" cy="1143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61311" y="219456"/>
            <a:ext cx="9418320" cy="66111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FFFFF"/>
                </a:solidFill>
                <a:latin typeface="Times New Roman"/>
              </a:defRPr>
            </a:pPr>
            <a:r>
              <a:t>Working Project: Interactive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3855"/>
            <a:ext cx="12191999" cy="2441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592824"/>
            <a:ext cx="3657600" cy="25603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Calibri"/>
              </a:defRPr>
            </a:pPr>
            <a:r>
              <a:t>SKIT, JAIPUR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02752" y="6592824"/>
            <a:ext cx="3657600" cy="25603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www.skit.ac.in</a:t>
            </a:r>
          </a:p>
        </p:txBody>
      </p:sp>
      <p:pic>
        <p:nvPicPr>
          <p:cNvPr id="7" name="Picture 6" descr="pattern_desig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234440"/>
            <a:ext cx="4846320" cy="3931920"/>
          </a:xfrm>
          <a:prstGeom prst="rect">
            <a:avLst/>
          </a:prstGeom>
          <a:ln w="12700">
            <a:solidFill>
              <a:srgbClr val="D2D2D2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645920" y="52578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C00000"/>
                </a:solidFill>
                <a:latin typeface="Times New Roman"/>
              </a:defRPr>
            </a:pPr>
            <a:r>
              <a:t>Installation Pattern Designer</a:t>
            </a:r>
          </a:p>
          <a:p>
            <a:pPr>
              <a:defRPr sz="1400">
                <a:solidFill>
                  <a:srgbClr val="141414"/>
                </a:solidFill>
                <a:latin typeface="Calibri"/>
              </a:defRPr>
            </a:pPr>
            <a:r>
              <a:t>Dynamic SVG visualizer for 6 layouts (Straight, Herringbone, Chevron, Basket Weave).</a:t>
            </a:r>
          </a:p>
        </p:txBody>
      </p:sp>
      <p:pic>
        <p:nvPicPr>
          <p:cNvPr id="9" name="Picture 8" descr="calcula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234440"/>
            <a:ext cx="4846320" cy="3931920"/>
          </a:xfrm>
          <a:prstGeom prst="rect">
            <a:avLst/>
          </a:prstGeom>
          <a:ln w="12700">
            <a:solidFill>
              <a:srgbClr val="D2D2D2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858000" y="52578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C00000"/>
                </a:solidFill>
                <a:latin typeface="Times New Roman"/>
              </a:defRPr>
            </a:pPr>
            <a:r>
              <a:t>Surface Area &amp; Wastage Calculator</a:t>
            </a:r>
          </a:p>
          <a:p>
            <a:pPr>
              <a:defRPr sz="1400">
                <a:solidFill>
                  <a:srgbClr val="141414"/>
                </a:solidFill>
                <a:latin typeface="Calibri"/>
              </a:defRPr>
            </a:pPr>
            <a:r>
              <a:t>Room dimension calculation, pattern-specific wastage formula (+5% to +18%), and cost estimation.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it_logo_cri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64592"/>
            <a:ext cx="1143000" cy="1143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61311" y="219456"/>
            <a:ext cx="9418320" cy="66111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FFFFF"/>
                </a:solidFill>
                <a:latin typeface="Times New Roman"/>
              </a:defRPr>
            </a:pPr>
            <a:r>
              <a:t>Future Scope &amp; Key Learnings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3855"/>
            <a:ext cx="12191999" cy="2441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592824"/>
            <a:ext cx="3657600" cy="25603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Calibri"/>
              </a:defRPr>
            </a:pPr>
            <a:r>
              <a:t>SKIT, JAIPUR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02752" y="6592824"/>
            <a:ext cx="3657600" cy="25603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www.skit.ac.in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188720"/>
            <a:ext cx="4846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C00000"/>
                </a:solidFill>
                <a:latin typeface="Times New Roman"/>
              </a:defRPr>
            </a:pPr>
            <a:r>
              <a:t>Future Scope</a:t>
            </a:r>
          </a:p>
          <a:p>
            <a:pPr>
              <a:lnSpc>
                <a:spcPct val="115000"/>
              </a:lnSpc>
              <a:spcBef>
                <a:spcPts val="800"/>
              </a:spcBef>
              <a:defRPr sz="1550">
                <a:latin typeface="Calibri"/>
              </a:defRPr>
            </a:pPr>
            <a:r>
              <a:rPr b="1"/>
              <a:t>1. Headless CMS &amp; Cloud API: </a:t>
            </a:r>
            <a:r>
              <a:t>Integrate Strapi/Supabase for live catalog management and payment gateway.</a:t>
            </a:r>
          </a:p>
          <a:p>
            <a:pPr>
              <a:lnSpc>
                <a:spcPct val="115000"/>
              </a:lnSpc>
              <a:spcBef>
                <a:spcPts val="800"/>
              </a:spcBef>
              <a:defRPr sz="1550">
                <a:latin typeface="Calibri"/>
              </a:defRPr>
            </a:pPr>
            <a:r>
              <a:rPr b="1"/>
              <a:t>2. WebGL 3D Room Visualizer: </a:t>
            </a:r>
            <a:r>
              <a:t>Real-time 3D and Augmented Reality (AR) to project floorings directly into rooms.</a:t>
            </a:r>
          </a:p>
          <a:p>
            <a:pPr>
              <a:lnSpc>
                <a:spcPct val="115000"/>
              </a:lnSpc>
              <a:spcBef>
                <a:spcPts val="800"/>
              </a:spcBef>
              <a:defRPr sz="1550">
                <a:latin typeface="Calibri"/>
              </a:defRPr>
            </a:pPr>
            <a:r>
              <a:rPr b="1"/>
              <a:t>3. AI Interior Recommendation: </a:t>
            </a:r>
            <a:r>
              <a:t>Machine learning model analyzing room photos to suggest matching wood finishes.</a:t>
            </a:r>
          </a:p>
          <a:p>
            <a:pPr>
              <a:lnSpc>
                <a:spcPct val="115000"/>
              </a:lnSpc>
              <a:spcBef>
                <a:spcPts val="800"/>
              </a:spcBef>
              <a:defRPr sz="1550">
                <a:latin typeface="Calibri"/>
              </a:defRPr>
            </a:pPr>
            <a:r>
              <a:rPr b="1"/>
              <a:t>4. B2B Trade Portal: </a:t>
            </a:r>
            <a:r>
              <a:t>Contractor portal with tiered wholesale pricing and CAD/BIM downloads.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188720"/>
            <a:ext cx="50292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C00000"/>
                </a:solidFill>
                <a:latin typeface="Times New Roman"/>
              </a:defRPr>
            </a:pPr>
            <a:r>
              <a:t>Key Industrial Learnings</a:t>
            </a:r>
          </a:p>
          <a:p>
            <a:pPr>
              <a:lnSpc>
                <a:spcPct val="115000"/>
              </a:lnSpc>
              <a:spcBef>
                <a:spcPts val="800"/>
              </a:spcBef>
              <a:defRPr sz="1550">
                <a:latin typeface="Calibri"/>
              </a:defRPr>
            </a:pPr>
            <a:r>
              <a:rPr b="1"/>
              <a:t>1. Component-Driven Architecture: </a:t>
            </a:r>
            <a:r>
              <a:t>Structured reusable, decoupled UI components with strict TypeScript types.</a:t>
            </a:r>
          </a:p>
          <a:p>
            <a:pPr>
              <a:lnSpc>
                <a:spcPct val="115000"/>
              </a:lnSpc>
              <a:spcBef>
                <a:spcPts val="800"/>
              </a:spcBef>
              <a:defRPr sz="1550">
                <a:latin typeface="Calibri"/>
              </a:defRPr>
            </a:pPr>
            <a:r>
              <a:rPr b="1"/>
              <a:t>2. Reactive Client-Side State: </a:t>
            </a:r>
            <a:r>
              <a:t>Managed synchronized carts and sample orders using Context API and LocalStorage.</a:t>
            </a:r>
          </a:p>
          <a:p>
            <a:pPr>
              <a:lnSpc>
                <a:spcPct val="115000"/>
              </a:lnSpc>
              <a:spcBef>
                <a:spcPts val="800"/>
              </a:spcBef>
              <a:defRPr sz="1550">
                <a:latin typeface="Calibri"/>
              </a:defRPr>
            </a:pPr>
            <a:r>
              <a:rPr b="1"/>
              <a:t>3. Interactive Tool Engineering: </a:t>
            </a:r>
            <a:r>
              <a:t>Built dynamic SVG mathematical generators for architectural pattern simulation.</a:t>
            </a:r>
          </a:p>
          <a:p>
            <a:pPr>
              <a:lnSpc>
                <a:spcPct val="115000"/>
              </a:lnSpc>
              <a:spcBef>
                <a:spcPts val="800"/>
              </a:spcBef>
              <a:defRPr sz="1550">
                <a:latin typeface="Calibri"/>
              </a:defRPr>
            </a:pPr>
            <a:r>
              <a:rPr b="1"/>
              <a:t>4. Production Standards: </a:t>
            </a:r>
            <a:r>
              <a:t>Practiced Git workflows, code modularity, route code splitting, and sub-second load times.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it_logo_cri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64592"/>
            <a:ext cx="1143000" cy="1143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613855"/>
            <a:ext cx="12191999" cy="2441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92824"/>
            <a:ext cx="3657600" cy="25603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Calibri"/>
              </a:defRPr>
            </a:pPr>
            <a:r>
              <a:t>SKIT, JAIPUR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02752" y="6592824"/>
            <a:ext cx="3657600" cy="25603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www.skit.ac.in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4457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C00000"/>
                </a:solidFill>
                <a:latin typeface="Calibri"/>
              </a:defRPr>
            </a:pPr>
            <a:r>
              <a:t>THANK YOU</a:t>
            </a:r>
          </a:p>
          <a:p>
            <a:pPr algn="ctr">
              <a:spcBef>
                <a:spcPts val="1600"/>
              </a:spcBef>
              <a:defRPr sz="2800" b="1">
                <a:solidFill>
                  <a:srgbClr val="141414"/>
                </a:solidFill>
                <a:latin typeface="Times New Roman"/>
              </a:defRPr>
            </a:pPr>
            <a:r>
              <a:t>Questions &amp; Answers</a:t>
            </a:r>
          </a:p>
          <a:p>
            <a:pPr algn="ctr">
              <a:spcBef>
                <a:spcPts val="1400"/>
              </a:spcBef>
              <a:defRPr sz="2000">
                <a:solidFill>
                  <a:srgbClr val="900000"/>
                </a:solidFill>
                <a:latin typeface="Calibri"/>
              </a:defRPr>
            </a:pPr>
            <a:r>
              <a:t>Lamiwood: Modern E-Commerce Platform for Architectural Surfaces</a:t>
            </a:r>
          </a:p>
          <a:p>
            <a:pPr algn="ctr">
              <a:spcBef>
                <a:spcPts val="600"/>
              </a:spcBef>
              <a:defRPr sz="1800">
                <a:solidFill>
                  <a:srgbClr val="141414"/>
                </a:solidFill>
                <a:latin typeface="Calibri"/>
              </a:defRPr>
            </a:pPr>
            <a:r>
              <a:t>Aditya Swami | 24ESKCS024 | SKIT Jaipur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